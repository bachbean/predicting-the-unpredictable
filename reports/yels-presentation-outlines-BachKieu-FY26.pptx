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Google Sans"/>
      <p:regular r:id="rId21"/>
      <p:bold r:id="rId22"/>
      <p:italic r:id="rId23"/>
      <p:boldItalic r:id="rId24"/>
    </p:embeddedFont>
    <p:embeddedFont>
      <p:font typeface="Google Sans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GoogleSans-bold.fntdata"/><Relationship Id="rId21" Type="http://schemas.openxmlformats.org/officeDocument/2006/relationships/font" Target="fonts/GoogleSans-regular.fntdata"/><Relationship Id="rId24" Type="http://schemas.openxmlformats.org/officeDocument/2006/relationships/font" Target="fonts/GoogleSans-boldItalic.fntdata"/><Relationship Id="rId23" Type="http://schemas.openxmlformats.org/officeDocument/2006/relationships/font" Target="fonts/Google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GoogleSansMedium-bold.fntdata"/><Relationship Id="rId25" Type="http://schemas.openxmlformats.org/officeDocument/2006/relationships/font" Target="fonts/GoogleSansMedium-regular.fntdata"/><Relationship Id="rId28" Type="http://schemas.openxmlformats.org/officeDocument/2006/relationships/font" Target="fonts/GoogleSansMedium-boldItalic.fntdata"/><Relationship Id="rId27" Type="http://schemas.openxmlformats.org/officeDocument/2006/relationships/font" Target="fonts/GoogleSans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Underlying question: How far into the future can we forecast hurricanes?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Specifically, we’ll be addressing if chaos is really present in hurricane intensity.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Chaos in this context refers to the classical example of a butterfly’s wings in Brazil causing a tornado storm in Texas</a:t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Some brief facts </a:t>
            </a:r>
            <a:r>
              <a:rPr lang="en-US"/>
              <a:t>about</a:t>
            </a:r>
            <a:r>
              <a:rPr lang="en-US"/>
              <a:t> hurricanes, top down -&gt; cross section (more than meets the eye :O)) -&gt; three labeled parts</a:t>
            </a:r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system is called a tropical storm until it has a max </a:t>
            </a:r>
            <a:r>
              <a:rPr lang="en-US"/>
              <a:t>surface</a:t>
            </a:r>
            <a:r>
              <a:rPr lang="en-US"/>
              <a:t> wind speed of 74 mph, from there it progresses through the five established categories with cat 1 weakest cat 5 strongest</a:t>
            </a:r>
            <a:endParaRPr/>
          </a:p>
        </p:txBody>
      </p:sp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Though no two hurricanes are the same, internal mechanics are similar which makes past experiences quite valuable. Furthermore, math + computer models are reasonably accurate short-term.</a:t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However, we can’t haven’t been able to forecast far because hurricanes exhibit chaotic behavior, which is what we’ll look to establish today.</a:t>
            </a:r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be6e399c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be6e399c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that, well what is chaos specifically?</a:t>
            </a:r>
            <a:endParaRPr/>
          </a:p>
        </p:txBody>
      </p:sp>
      <p:sp>
        <p:nvSpPr>
          <p:cNvPr id="186" name="Google Shape;186;g3fbe6e399c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bb0cfda89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fbb0cfda89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fbb0cfda89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bb0cfda8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fbb0cfda8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At its core, chaos measures how badly a system predicts and scientists mainly quantify chaos through a value called the lyapunov exponent (talk about pic)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 do this we need to know how many dimensions the system exists in, called the embedding dimension. For example, remember in the </a:t>
            </a:r>
            <a:r>
              <a:rPr lang="en-US"/>
              <a:t>pendulum</a:t>
            </a:r>
            <a:r>
              <a:rPr lang="en-US"/>
              <a:t> example we can see it’s 2-dimensional, but if we only had the x-coordinate of the pendulum at a time t, we would need to determine that it has two.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fbb0cfda89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bb0cfda89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fbb0cfda89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fbb0cfda89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bb0cfda89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fbb0cfda89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fbb0cfda89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bb0cfda89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fbb0cfda89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fbb0cfda89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bb0cfda89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fbb0cfda89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3fbb0cfda89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b0cfda89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fbb0cfda89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fbb0cfda89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gif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10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322430" y="1078299"/>
            <a:ext cx="9093227" cy="1304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Bach Kieu </a:t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i="1" lang="en-US" sz="16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Bloomington High School South</a:t>
            </a:r>
            <a:endParaRPr i="1" sz="16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 i="1" sz="16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i="1" lang="en-US" sz="16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Mentors: Dr. Diya Kamnani</a:t>
            </a:r>
            <a:endParaRPr i="1" sz="16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-4900" y="3"/>
            <a:ext cx="12192000" cy="875700"/>
            <a:chOff x="-4" y="28"/>
            <a:chExt cx="12192000" cy="875700"/>
          </a:xfrm>
        </p:grpSpPr>
        <p:sp>
          <p:nvSpPr>
            <p:cNvPr id="91" name="Google Shape;91;p13"/>
            <p:cNvSpPr/>
            <p:nvPr/>
          </p:nvSpPr>
          <p:spPr>
            <a:xfrm>
              <a:off x="-4" y="28"/>
              <a:ext cx="12192000" cy="875700"/>
            </a:xfrm>
            <a:prstGeom prst="rect">
              <a:avLst/>
            </a:prstGeom>
            <a:solidFill>
              <a:srgbClr val="9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327322" y="114025"/>
              <a:ext cx="11656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Rockwell"/>
                <a:buNone/>
              </a:pPr>
              <a:r>
                <a:rPr lang="en-US" sz="4400">
                  <a:solidFill>
                    <a:schemeClr val="lt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Searching for Chaos in Hurricane Intensity</a:t>
              </a:r>
              <a:endParaRPr sz="440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167013" y="1583704"/>
            <a:ext cx="5555057" cy="2837467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C4E0B2"/>
          </a:solidFill>
          <a:ln cap="flat" cmpd="sng" w="12700">
            <a:solidFill>
              <a:srgbClr val="42719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My name is Bach, and I’m a local high school senior at Bloomington South assisting the Hurricane Dynamic Lab!</a:t>
            </a:r>
            <a:endParaRPr i="0" sz="7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99" name="Google Shape;99;p14" title="Screenshot 2026-09-20 193817.png"/>
          <p:cNvPicPr preferRelativeResize="0"/>
          <p:nvPr/>
        </p:nvPicPr>
        <p:blipFill rotWithShape="1">
          <a:blip r:embed="rId3">
            <a:alphaModFix/>
          </a:blip>
          <a:srcRect b="328" l="0" r="0" t="338"/>
          <a:stretch/>
        </p:blipFill>
        <p:spPr>
          <a:xfrm>
            <a:off x="959996" y="4835950"/>
            <a:ext cx="1886897" cy="1862595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621797" y="1899567"/>
            <a:ext cx="5327700" cy="1693200"/>
          </a:xfrm>
          <a:prstGeom prst="rect">
            <a:avLst/>
          </a:prstGeom>
          <a:solidFill>
            <a:srgbClr val="FFD865"/>
          </a:solidFill>
          <a:ln cap="flat" cmpd="sng" w="9525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Hobbies:</a:t>
            </a:r>
            <a:endParaRPr i="0" sz="1600" u="none" cap="none" strike="noStrike">
              <a:solidFill>
                <a:srgbClr val="000000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-16827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Math competitions!</a:t>
            </a:r>
            <a:endParaRPr i="0" sz="2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16827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Piano!</a:t>
            </a:r>
            <a:endParaRPr i="0" sz="2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16827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Video games!</a:t>
            </a:r>
            <a:endParaRPr i="0" sz="2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16827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Sports! (pole vaulting + swimming)</a:t>
            </a:r>
            <a:endParaRPr i="0" sz="2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5849570" y="4053525"/>
            <a:ext cx="6099927" cy="2121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solidFill>
                  <a:srgbClr val="C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Study Objectives</a:t>
            </a:r>
            <a:endParaRPr sz="3200"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-287338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oogle Sans"/>
              <a:buChar char="•"/>
            </a:pPr>
            <a:r>
              <a:rPr lang="en-US" sz="2300">
                <a:latin typeface="Google Sans"/>
                <a:ea typeface="Google Sans"/>
                <a:cs typeface="Google Sans"/>
                <a:sym typeface="Google Sans"/>
              </a:rPr>
              <a:t>Is chaos really present in hurricane intensity?</a:t>
            </a:r>
            <a:endParaRPr sz="2300">
              <a:latin typeface="Google Sans"/>
              <a:ea typeface="Google Sans"/>
              <a:cs typeface="Google Sans"/>
              <a:sym typeface="Google Sans"/>
            </a:endParaRPr>
          </a:p>
          <a:p>
            <a:pPr indent="-287338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oogle Sans"/>
              <a:buChar char="•"/>
            </a:pPr>
            <a:r>
              <a:rPr lang="en-US" sz="2300">
                <a:latin typeface="Google Sans"/>
                <a:ea typeface="Google Sans"/>
                <a:cs typeface="Google Sans"/>
                <a:sym typeface="Google Sans"/>
              </a:rPr>
              <a:t>What are best methods to search for chaos with limited data? </a:t>
            </a:r>
            <a:endParaRPr sz="2300"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02" name="Google Shape;102;p14"/>
          <p:cNvGrpSpPr/>
          <p:nvPr/>
        </p:nvGrpSpPr>
        <p:grpSpPr>
          <a:xfrm>
            <a:off x="-4900" y="5"/>
            <a:ext cx="12192000" cy="1168903"/>
            <a:chOff x="0" y="18"/>
            <a:chExt cx="12192000" cy="655913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18"/>
              <a:ext cx="12192000" cy="645000"/>
            </a:xfrm>
            <a:prstGeom prst="rect">
              <a:avLst/>
            </a:prstGeom>
            <a:solidFill>
              <a:srgbClr val="9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620933" y="8231"/>
              <a:ext cx="6649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Rockwell"/>
                <a:buNone/>
              </a:pPr>
              <a:r>
                <a:rPr lang="en-US" sz="40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About Me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5"/>
          <p:cNvGrpSpPr/>
          <p:nvPr/>
        </p:nvGrpSpPr>
        <p:grpSpPr>
          <a:xfrm>
            <a:off x="-4900" y="5"/>
            <a:ext cx="12192000" cy="1168903"/>
            <a:chOff x="0" y="18"/>
            <a:chExt cx="12192000" cy="655913"/>
          </a:xfrm>
        </p:grpSpPr>
        <p:sp>
          <p:nvSpPr>
            <p:cNvPr id="110" name="Google Shape;110;p15"/>
            <p:cNvSpPr/>
            <p:nvPr/>
          </p:nvSpPr>
          <p:spPr>
            <a:xfrm>
              <a:off x="0" y="18"/>
              <a:ext cx="12192000" cy="645000"/>
            </a:xfrm>
            <a:prstGeom prst="rect">
              <a:avLst/>
            </a:prstGeom>
            <a:solidFill>
              <a:srgbClr val="9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620933" y="8231"/>
              <a:ext cx="6649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Rockwell"/>
                <a:buNone/>
              </a:pPr>
              <a:r>
                <a:rPr lang="en-US" sz="40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Inside Hurricanes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185366" y="1687604"/>
            <a:ext cx="4665453" cy="486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Google Sans"/>
                <a:ea typeface="Google Sans"/>
                <a:cs typeface="Google Sans"/>
                <a:sym typeface="Google Sans"/>
              </a:rPr>
              <a:t>Top-down view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044462"/>
            <a:ext cx="4274186" cy="28335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15"/>
          <p:cNvGrpSpPr/>
          <p:nvPr/>
        </p:nvGrpSpPr>
        <p:grpSpPr>
          <a:xfrm>
            <a:off x="4901306" y="2596045"/>
            <a:ext cx="7290694" cy="4079211"/>
            <a:chOff x="4901306" y="2596045"/>
            <a:chExt cx="7290694" cy="4079211"/>
          </a:xfrm>
        </p:grpSpPr>
        <p:pic>
          <p:nvPicPr>
            <p:cNvPr id="115" name="Google Shape;11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01306" y="2615609"/>
              <a:ext cx="7290694" cy="40596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15"/>
            <p:cNvSpPr txBox="1"/>
            <p:nvPr/>
          </p:nvSpPr>
          <p:spPr>
            <a:xfrm>
              <a:off x="6213926" y="2596045"/>
              <a:ext cx="4665453" cy="486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i="0" lang="en-US" sz="2000" u="none" cap="none" strike="noStrike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Cross-section view</a:t>
              </a:r>
              <a:endParaRPr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923026" y="5106960"/>
            <a:ext cx="7530816" cy="1568296"/>
            <a:chOff x="923026" y="5106960"/>
            <a:chExt cx="7530816" cy="1568296"/>
          </a:xfrm>
        </p:grpSpPr>
        <p:cxnSp>
          <p:nvCxnSpPr>
            <p:cNvPr id="118" name="Google Shape;118;p15"/>
            <p:cNvCxnSpPr>
              <a:stCxn id="119" idx="3"/>
            </p:cNvCxnSpPr>
            <p:nvPr/>
          </p:nvCxnSpPr>
          <p:spPr>
            <a:xfrm flipH="1" rot="10800000">
              <a:off x="3605842" y="5106960"/>
              <a:ext cx="4848000" cy="1017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"/>
              <a:headEnd len="sm" w="sm" type="none"/>
              <a:tailEnd len="med" w="med" type="triangle"/>
            </a:ln>
          </p:spPr>
        </p:cxnSp>
        <p:sp>
          <p:nvSpPr>
            <p:cNvPr id="119" name="Google Shape;119;p15"/>
            <p:cNvSpPr/>
            <p:nvPr/>
          </p:nvSpPr>
          <p:spPr>
            <a:xfrm>
              <a:off x="923026" y="5572664"/>
              <a:ext cx="2682816" cy="1102592"/>
            </a:xfrm>
            <a:prstGeom prst="roundRect">
              <a:avLst>
                <a:gd fmla="val 16667" name="adj"/>
              </a:avLst>
            </a:prstGeom>
            <a:solidFill>
              <a:srgbClr val="F7CAAC"/>
            </a:solidFill>
            <a:ln cap="flat" cmpd="sng" w="12700">
              <a:solidFill>
                <a:srgbClr val="42719B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1800" u="none" cap="none" strike="noStrike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Extremely heavy rainfall and strong winds near the eye, called eyewall region</a:t>
              </a:r>
              <a:endParaRPr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6840747" y="508958"/>
            <a:ext cx="5351253" cy="1664900"/>
            <a:chOff x="6840747" y="508958"/>
            <a:chExt cx="5351253" cy="2018582"/>
          </a:xfrm>
        </p:grpSpPr>
        <p:sp>
          <p:nvSpPr>
            <p:cNvPr id="121" name="Google Shape;121;p15"/>
            <p:cNvSpPr/>
            <p:nvPr/>
          </p:nvSpPr>
          <p:spPr>
            <a:xfrm>
              <a:off x="6840747" y="508958"/>
              <a:ext cx="5351253" cy="2018582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FD865"/>
            </a:solidFill>
            <a:ln cap="flat" cmpd="sng" w="12700">
              <a:solidFill>
                <a:srgbClr val="42719B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6977332" y="676995"/>
              <a:ext cx="5078082" cy="1622494"/>
            </a:xfrm>
            <a:prstGeom prst="rect">
              <a:avLst/>
            </a:prstGeom>
            <a:solidFill>
              <a:srgbClr val="FFD86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i="0" lang="en-US" sz="2000" u="none" cap="none" strike="noStrike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Facts:</a:t>
              </a:r>
              <a:endParaRPr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oogle Sans"/>
                <a:buChar char="-"/>
              </a:pPr>
              <a:r>
                <a:rPr i="0" lang="en-US" sz="2000" u="none" cap="none" strike="noStrike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Strong hurricanes always have an eye</a:t>
              </a:r>
              <a:endParaRPr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oogle Sans"/>
                <a:buChar char="-"/>
              </a:pPr>
              <a:r>
                <a:rPr i="0" lang="en-US" sz="2000" u="none" cap="none" strike="noStrike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The eye area has no clouds, and very calm win</a:t>
              </a:r>
              <a:r>
                <a:rPr lang="en-US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ds</a:t>
              </a:r>
              <a:endParaRPr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226" y="1676400"/>
            <a:ext cx="8380832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437200" y="2343350"/>
            <a:ext cx="2803500" cy="3708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D865"/>
          </a:solidFill>
          <a:ln cap="flat" cmpd="sng" w="12700">
            <a:solidFill>
              <a:srgbClr val="42719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37193" y="2754541"/>
            <a:ext cx="28035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sng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Facts:</a:t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-"/>
            </a:pPr>
            <a:r>
              <a:rPr i="0" lang="en-US" sz="2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Measured by how strong the wind at the surface is</a:t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-"/>
            </a:pPr>
            <a:r>
              <a:rPr lang="en-US" sz="2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There is only an established scale for hurricane strength between 1-5</a:t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30" name="Google Shape;130;p16"/>
          <p:cNvGrpSpPr/>
          <p:nvPr/>
        </p:nvGrpSpPr>
        <p:grpSpPr>
          <a:xfrm>
            <a:off x="-4900" y="5"/>
            <a:ext cx="12192000" cy="1168903"/>
            <a:chOff x="0" y="18"/>
            <a:chExt cx="12192000" cy="655913"/>
          </a:xfrm>
        </p:grpSpPr>
        <p:sp>
          <p:nvSpPr>
            <p:cNvPr id="131" name="Google Shape;131;p16"/>
            <p:cNvSpPr/>
            <p:nvPr/>
          </p:nvSpPr>
          <p:spPr>
            <a:xfrm>
              <a:off x="0" y="18"/>
              <a:ext cx="12192000" cy="645000"/>
            </a:xfrm>
            <a:prstGeom prst="rect">
              <a:avLst/>
            </a:prstGeom>
            <a:solidFill>
              <a:srgbClr val="9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620933" y="8231"/>
              <a:ext cx="6649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Rockwell"/>
                <a:buNone/>
              </a:pPr>
              <a:r>
                <a:rPr lang="en-US" sz="40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Hurricane Intensity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2455" y="1274750"/>
            <a:ext cx="3570215" cy="2326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4082" y="3897632"/>
            <a:ext cx="5929305" cy="282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6261950" y="244625"/>
            <a:ext cx="12615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Google Sans"/>
                <a:ea typeface="Google Sans"/>
                <a:cs typeface="Google Sans"/>
                <a:sym typeface="Google Sans"/>
              </a:rPr>
              <a:t>Strong Wind</a:t>
            </a:r>
            <a:endParaRPr sz="1800">
              <a:solidFill>
                <a:srgbClr val="C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26286" t="0"/>
          <a:stretch/>
        </p:blipFill>
        <p:spPr>
          <a:xfrm>
            <a:off x="1075950" y="3888825"/>
            <a:ext cx="3816727" cy="27201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322450" y="1274750"/>
            <a:ext cx="13569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Google Sans"/>
                <a:ea typeface="Google Sans"/>
                <a:cs typeface="Google Sans"/>
                <a:sym typeface="Google Sans"/>
              </a:rPr>
              <a:t>Heavy</a:t>
            </a:r>
            <a:endParaRPr sz="1800">
              <a:solidFill>
                <a:srgbClr val="C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Google Sans"/>
                <a:ea typeface="Google Sans"/>
                <a:cs typeface="Google Sans"/>
                <a:sym typeface="Google Sans"/>
              </a:rPr>
              <a:t>Rainfall</a:t>
            </a:r>
            <a:endParaRPr sz="1800">
              <a:solidFill>
                <a:srgbClr val="C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1075950" y="3823575"/>
            <a:ext cx="11454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Google Sans"/>
                <a:ea typeface="Google Sans"/>
                <a:cs typeface="Google Sans"/>
                <a:sym typeface="Google Sans"/>
              </a:rPr>
              <a:t>Storm Surge</a:t>
            </a:r>
            <a:endParaRPr sz="1800">
              <a:solidFill>
                <a:srgbClr val="C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754075" y="3888825"/>
            <a:ext cx="10488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Google Sans"/>
                <a:ea typeface="Google Sans"/>
                <a:cs typeface="Google Sans"/>
                <a:sym typeface="Google Sans"/>
              </a:rPr>
              <a:t>Flash floods</a:t>
            </a:r>
            <a:endParaRPr sz="1800">
              <a:solidFill>
                <a:srgbClr val="C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44" name="Google Shape;144;p17"/>
          <p:cNvGrpSpPr/>
          <p:nvPr/>
        </p:nvGrpSpPr>
        <p:grpSpPr>
          <a:xfrm>
            <a:off x="-4900" y="5"/>
            <a:ext cx="12192000" cy="1168903"/>
            <a:chOff x="0" y="18"/>
            <a:chExt cx="12192000" cy="655913"/>
          </a:xfrm>
        </p:grpSpPr>
        <p:sp>
          <p:nvSpPr>
            <p:cNvPr id="145" name="Google Shape;145;p17"/>
            <p:cNvSpPr/>
            <p:nvPr/>
          </p:nvSpPr>
          <p:spPr>
            <a:xfrm>
              <a:off x="0" y="18"/>
              <a:ext cx="12192000" cy="645000"/>
            </a:xfrm>
            <a:prstGeom prst="rect">
              <a:avLst/>
            </a:prstGeom>
            <a:solidFill>
              <a:srgbClr val="9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620933" y="8231"/>
              <a:ext cx="6649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Rockwell"/>
                <a:buNone/>
              </a:pPr>
              <a:r>
                <a:rPr lang="en-US" sz="40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Hurricane Damage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pic>
        <p:nvPicPr>
          <p:cNvPr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17783"/>
          <a:stretch/>
        </p:blipFill>
        <p:spPr>
          <a:xfrm>
            <a:off x="6261950" y="1274750"/>
            <a:ext cx="4428199" cy="232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6261950" y="1274750"/>
            <a:ext cx="9714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Google Sans"/>
                <a:ea typeface="Google Sans"/>
                <a:cs typeface="Google Sans"/>
                <a:sym typeface="Google Sans"/>
              </a:rPr>
              <a:t>Strong Winds</a:t>
            </a:r>
            <a:endParaRPr sz="1800">
              <a:solidFill>
                <a:srgbClr val="C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>
            <p:ph idx="1" type="body"/>
          </p:nvPr>
        </p:nvSpPr>
        <p:spPr>
          <a:xfrm>
            <a:off x="907374" y="1485677"/>
            <a:ext cx="3267974" cy="3039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Well yes we can!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54" name="Google Shape;154;p18"/>
          <p:cNvGrpSpPr/>
          <p:nvPr/>
        </p:nvGrpSpPr>
        <p:grpSpPr>
          <a:xfrm>
            <a:off x="1840536" y="2217608"/>
            <a:ext cx="3673593" cy="3801020"/>
            <a:chOff x="-237393" y="1365236"/>
            <a:chExt cx="4898123" cy="5068027"/>
          </a:xfrm>
        </p:grpSpPr>
        <p:sp>
          <p:nvSpPr>
            <p:cNvPr id="155" name="Google Shape;155;p18"/>
            <p:cNvSpPr txBox="1"/>
            <p:nvPr/>
          </p:nvSpPr>
          <p:spPr>
            <a:xfrm>
              <a:off x="1820361" y="1365236"/>
              <a:ext cx="2840369" cy="553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-US" sz="2100" u="none" cap="none" strike="noStrike">
                  <a:solidFill>
                    <a:srgbClr val="C00000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By experiences</a:t>
              </a:r>
              <a:endParaRPr i="0" sz="1400" u="none" cap="none" strike="noStrike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  <p:pic>
          <p:nvPicPr>
            <p:cNvPr id="156" name="Google Shape;15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18324" y="2429387"/>
              <a:ext cx="2442406" cy="4003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8"/>
            <p:cNvSpPr/>
            <p:nvPr/>
          </p:nvSpPr>
          <p:spPr>
            <a:xfrm rot="-321007">
              <a:off x="-150590" y="2032179"/>
              <a:ext cx="3010963" cy="2002583"/>
            </a:xfrm>
            <a:custGeom>
              <a:rect b="b" l="l" r="r" t="t"/>
              <a:pathLst>
                <a:path extrusionOk="0" h="1632922" w="2513426">
                  <a:moveTo>
                    <a:pt x="2479473" y="1183005"/>
                  </a:moveTo>
                  <a:cubicBezTo>
                    <a:pt x="2381151" y="1004386"/>
                    <a:pt x="1894454" y="324321"/>
                    <a:pt x="1555241" y="140785"/>
                  </a:cubicBezTo>
                  <a:cubicBezTo>
                    <a:pt x="1216028" y="-42751"/>
                    <a:pt x="703112" y="-29640"/>
                    <a:pt x="444196" y="81792"/>
                  </a:cubicBezTo>
                  <a:cubicBezTo>
                    <a:pt x="185280" y="193224"/>
                    <a:pt x="-21198" y="552102"/>
                    <a:pt x="1744" y="809379"/>
                  </a:cubicBezTo>
                  <a:cubicBezTo>
                    <a:pt x="24686" y="1066656"/>
                    <a:pt x="224609" y="1558269"/>
                    <a:pt x="581848" y="1625456"/>
                  </a:cubicBezTo>
                  <a:cubicBezTo>
                    <a:pt x="939087" y="1692643"/>
                    <a:pt x="1828905" y="1286244"/>
                    <a:pt x="2145176" y="1212502"/>
                  </a:cubicBezTo>
                  <a:cubicBezTo>
                    <a:pt x="2461447" y="1138760"/>
                    <a:pt x="2577795" y="1361624"/>
                    <a:pt x="2479473" y="1183005"/>
                  </a:cubicBezTo>
                  <a:close/>
                </a:path>
              </a:pathLst>
            </a:custGeom>
            <a:solidFill>
              <a:srgbClr val="FFC000"/>
            </a:solidFill>
            <a:ln cap="flat" cmpd="sng" w="12700">
              <a:solidFill>
                <a:srgbClr val="42719B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Irma is moving to Puerto Rico, so it must hit the 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18"/>
          <p:cNvGrpSpPr/>
          <p:nvPr/>
        </p:nvGrpSpPr>
        <p:grpSpPr>
          <a:xfrm>
            <a:off x="6546545" y="2200309"/>
            <a:ext cx="4616036" cy="4136872"/>
            <a:chOff x="6546545" y="2200309"/>
            <a:chExt cx="4616036" cy="4136872"/>
          </a:xfrm>
        </p:grpSpPr>
        <p:grpSp>
          <p:nvGrpSpPr>
            <p:cNvPr id="159" name="Google Shape;159;p18"/>
            <p:cNvGrpSpPr/>
            <p:nvPr/>
          </p:nvGrpSpPr>
          <p:grpSpPr>
            <a:xfrm>
              <a:off x="6782519" y="2200309"/>
              <a:ext cx="4380062" cy="2662665"/>
              <a:chOff x="6351917" y="1659315"/>
              <a:chExt cx="5840083" cy="3550220"/>
            </a:xfrm>
          </p:grpSpPr>
          <p:sp>
            <p:nvSpPr>
              <p:cNvPr id="160" name="Google Shape;160;p18"/>
              <p:cNvSpPr txBox="1"/>
              <p:nvPr/>
            </p:nvSpPr>
            <p:spPr>
              <a:xfrm>
                <a:off x="7069394" y="1659315"/>
                <a:ext cx="5122606" cy="553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00"/>
                  <a:buFont typeface="Arial"/>
                  <a:buNone/>
                </a:pPr>
                <a:r>
                  <a:rPr i="0" lang="en-US" sz="2100" u="none" cap="none" strike="noStrike">
                    <a:solidFill>
                      <a:srgbClr val="C00000"/>
                    </a:solidFill>
                    <a:latin typeface="Google Sans Medium"/>
                    <a:ea typeface="Google Sans Medium"/>
                    <a:cs typeface="Google Sans Medium"/>
                    <a:sym typeface="Google Sans Medium"/>
                  </a:rPr>
                  <a:t>By math/computer models</a:t>
                </a:r>
                <a:endParaRPr i="0" sz="1400" u="none" cap="none" strike="noStrike">
                  <a:solidFill>
                    <a:srgbClr val="000000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endParaRPr>
              </a:p>
            </p:txBody>
          </p:sp>
          <p:pic>
            <p:nvPicPr>
              <p:cNvPr id="161" name="Google Shape;161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630850" y="2265208"/>
                <a:ext cx="1840771" cy="12928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2" name="Google Shape;162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992906" y="2281664"/>
                <a:ext cx="1286041" cy="14515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3" name="Google Shape;163;p1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351917" y="3733191"/>
                <a:ext cx="2143155" cy="120668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64" name="Google Shape;164;p18"/>
              <p:cNvCxnSpPr>
                <a:stCxn id="163" idx="3"/>
              </p:cNvCxnSpPr>
              <p:nvPr/>
            </p:nvCxnSpPr>
            <p:spPr>
              <a:xfrm>
                <a:off x="8495072" y="4336535"/>
                <a:ext cx="1458000" cy="87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"/>
                <a:headEnd len="sm" w="sm" type="none"/>
                <a:tailEnd len="med" w="med" type="triangle"/>
              </a:ln>
            </p:spPr>
          </p:cxnSp>
          <p:cxnSp>
            <p:nvCxnSpPr>
              <p:cNvPr id="165" name="Google Shape;165;p18"/>
              <p:cNvCxnSpPr>
                <a:stCxn id="161" idx="3"/>
              </p:cNvCxnSpPr>
              <p:nvPr/>
            </p:nvCxnSpPr>
            <p:spPr>
              <a:xfrm>
                <a:off x="8471621" y="2911618"/>
                <a:ext cx="1624200" cy="18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"/>
                <a:headEnd len="sm" w="sm" type="none"/>
                <a:tailEnd len="med" w="med" type="triangle"/>
              </a:ln>
            </p:spPr>
          </p:cxnSp>
          <p:cxnSp>
            <p:nvCxnSpPr>
              <p:cNvPr id="166" name="Google Shape;166;p18"/>
              <p:cNvCxnSpPr>
                <a:stCxn id="162" idx="2"/>
                <a:endCxn id="167" idx="0"/>
              </p:cNvCxnSpPr>
              <p:nvPr/>
            </p:nvCxnSpPr>
            <p:spPr>
              <a:xfrm>
                <a:off x="10635927" y="3733191"/>
                <a:ext cx="370500" cy="103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"/>
                <a:headEnd len="sm" w="sm" type="none"/>
                <a:tailEnd len="med" w="med" type="triangle"/>
              </a:ln>
            </p:spPr>
          </p:cxnSp>
        </p:grpSp>
        <p:grpSp>
          <p:nvGrpSpPr>
            <p:cNvPr id="168" name="Google Shape;168;p18"/>
            <p:cNvGrpSpPr/>
            <p:nvPr/>
          </p:nvGrpSpPr>
          <p:grpSpPr>
            <a:xfrm>
              <a:off x="6546545" y="4535548"/>
              <a:ext cx="4480352" cy="1801633"/>
              <a:chOff x="5948795" y="4693801"/>
              <a:chExt cx="5973803" cy="2402177"/>
            </a:xfrm>
          </p:grpSpPr>
          <p:pic>
            <p:nvPicPr>
              <p:cNvPr id="167" name="Google Shape;167;p1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9913375" y="4693801"/>
                <a:ext cx="2009223" cy="1702028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69" name="Google Shape;169;p18"/>
              <p:cNvCxnSpPr>
                <a:stCxn id="167" idx="1"/>
                <a:endCxn id="170" idx="3"/>
              </p:cNvCxnSpPr>
              <p:nvPr/>
            </p:nvCxnSpPr>
            <p:spPr>
              <a:xfrm flipH="1">
                <a:off x="8721175" y="5544815"/>
                <a:ext cx="1192200" cy="63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"/>
                <a:headEnd len="sm" w="sm" type="none"/>
                <a:tailEnd len="med" w="med" type="triangle"/>
              </a:ln>
            </p:spPr>
          </p:cxnSp>
          <p:pic>
            <p:nvPicPr>
              <p:cNvPr id="170" name="Google Shape;170;p1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948795" y="5256438"/>
                <a:ext cx="2772417" cy="18395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1" name="Google Shape;171;p18"/>
          <p:cNvGrpSpPr/>
          <p:nvPr/>
        </p:nvGrpSpPr>
        <p:grpSpPr>
          <a:xfrm>
            <a:off x="-4900" y="5"/>
            <a:ext cx="12192000" cy="1168911"/>
            <a:chOff x="0" y="18"/>
            <a:chExt cx="12192000" cy="655918"/>
          </a:xfrm>
        </p:grpSpPr>
        <p:sp>
          <p:nvSpPr>
            <p:cNvPr id="172" name="Google Shape;172;p18"/>
            <p:cNvSpPr/>
            <p:nvPr/>
          </p:nvSpPr>
          <p:spPr>
            <a:xfrm>
              <a:off x="0" y="18"/>
              <a:ext cx="12192000" cy="645000"/>
            </a:xfrm>
            <a:prstGeom prst="rect">
              <a:avLst/>
            </a:prstGeom>
            <a:solidFill>
              <a:srgbClr val="9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8"/>
            <p:cNvSpPr txBox="1"/>
            <p:nvPr/>
          </p:nvSpPr>
          <p:spPr>
            <a:xfrm>
              <a:off x="620925" y="8236"/>
              <a:ext cx="10009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Rockwell"/>
                <a:buNone/>
              </a:pPr>
              <a:r>
                <a:rPr lang="en-US" sz="4400">
                  <a:solidFill>
                    <a:schemeClr val="lt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Can We Forecast Hurricane Intensity?</a:t>
              </a:r>
              <a:endParaRPr sz="440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620700" y="3079576"/>
            <a:ext cx="2394000" cy="1812300"/>
          </a:xfrm>
          <a:prstGeom prst="rect">
            <a:avLst/>
          </a:prstGeom>
          <a:solidFill>
            <a:srgbClr val="FFD865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Google Sans"/>
                <a:ea typeface="Google Sans"/>
                <a:cs typeface="Google Sans"/>
                <a:sym typeface="Google Sans"/>
              </a:rPr>
              <a:t>N</a:t>
            </a:r>
            <a:r>
              <a:rPr lang="en-US" sz="3600">
                <a:latin typeface="Google Sans"/>
                <a:ea typeface="Google Sans"/>
                <a:cs typeface="Google Sans"/>
                <a:sym typeface="Google Sans"/>
              </a:rPr>
              <a:t>ot really,</a:t>
            </a:r>
            <a:endParaRPr sz="3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Google Sans"/>
                <a:ea typeface="Google Sans"/>
                <a:cs typeface="Google Sans"/>
                <a:sym typeface="Google Sans"/>
              </a:rPr>
              <a:t>due to </a:t>
            </a:r>
            <a:endParaRPr sz="3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i="1" lang="en-US" sz="3600" u="sng">
                <a:latin typeface="Google Sans"/>
                <a:ea typeface="Google Sans"/>
                <a:cs typeface="Google Sans"/>
                <a:sym typeface="Google Sans"/>
              </a:rPr>
              <a:t>chaos!</a:t>
            </a:r>
            <a:endParaRPr i="1" sz="3600" u="sng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descr="Can a Butterfly in Brazil Really Cause a Tornado in Texas?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0684" y="1669531"/>
            <a:ext cx="8417917" cy="50390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9"/>
          <p:cNvGrpSpPr/>
          <p:nvPr/>
        </p:nvGrpSpPr>
        <p:grpSpPr>
          <a:xfrm>
            <a:off x="-4900" y="5"/>
            <a:ext cx="12192000" cy="1168903"/>
            <a:chOff x="0" y="18"/>
            <a:chExt cx="12192000" cy="655913"/>
          </a:xfrm>
        </p:grpSpPr>
        <p:sp>
          <p:nvSpPr>
            <p:cNvPr id="181" name="Google Shape;181;p19"/>
            <p:cNvSpPr/>
            <p:nvPr/>
          </p:nvSpPr>
          <p:spPr>
            <a:xfrm>
              <a:off x="0" y="18"/>
              <a:ext cx="12192000" cy="645000"/>
            </a:xfrm>
            <a:prstGeom prst="rect">
              <a:avLst/>
            </a:prstGeom>
            <a:solidFill>
              <a:srgbClr val="9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620933" y="8231"/>
              <a:ext cx="6649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Rockwell"/>
                <a:buNone/>
              </a:pPr>
              <a:r>
                <a:rPr lang="en-US" sz="40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But…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0"/>
          <p:cNvGrpSpPr/>
          <p:nvPr/>
        </p:nvGrpSpPr>
        <p:grpSpPr>
          <a:xfrm>
            <a:off x="-4900" y="5"/>
            <a:ext cx="12192000" cy="1168903"/>
            <a:chOff x="0" y="18"/>
            <a:chExt cx="12192000" cy="655913"/>
          </a:xfrm>
        </p:grpSpPr>
        <p:sp>
          <p:nvSpPr>
            <p:cNvPr id="189" name="Google Shape;189;p20"/>
            <p:cNvSpPr/>
            <p:nvPr/>
          </p:nvSpPr>
          <p:spPr>
            <a:xfrm>
              <a:off x="0" y="18"/>
              <a:ext cx="12192000" cy="645000"/>
            </a:xfrm>
            <a:prstGeom prst="rect">
              <a:avLst/>
            </a:prstGeom>
            <a:solidFill>
              <a:srgbClr val="9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620933" y="8231"/>
              <a:ext cx="6649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Rockwell"/>
                <a:buNone/>
              </a:pPr>
              <a:r>
                <a:rPr lang="en-US" sz="40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What is Chaos?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pic>
        <p:nvPicPr>
          <p:cNvPr id="191" name="Google Shape;1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7675" y="1418775"/>
            <a:ext cx="4322175" cy="45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613642" y="1634250"/>
            <a:ext cx="6144000" cy="29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Char char="●"/>
            </a:pPr>
            <a:r>
              <a:rPr lang="en-US" sz="2800" u="sng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Deterministic:</a:t>
            </a:r>
            <a:r>
              <a:rPr lang="en-US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The system follows specific laws</a:t>
            </a:r>
            <a:endParaRPr sz="2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Char char="●"/>
            </a:pPr>
            <a:r>
              <a:rPr lang="en-US" sz="2800" u="sng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Sensitive:</a:t>
            </a:r>
            <a:r>
              <a:rPr lang="en-US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Changes in the initial condition result in large errors.</a:t>
            </a:r>
            <a:endParaRPr sz="2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21"/>
          <p:cNvGrpSpPr/>
          <p:nvPr/>
        </p:nvGrpSpPr>
        <p:grpSpPr>
          <a:xfrm>
            <a:off x="-4900" y="5"/>
            <a:ext cx="12192000" cy="1168911"/>
            <a:chOff x="0" y="18"/>
            <a:chExt cx="12192000" cy="655918"/>
          </a:xfrm>
        </p:grpSpPr>
        <p:sp>
          <p:nvSpPr>
            <p:cNvPr id="199" name="Google Shape;199;p21"/>
            <p:cNvSpPr/>
            <p:nvPr/>
          </p:nvSpPr>
          <p:spPr>
            <a:xfrm>
              <a:off x="0" y="18"/>
              <a:ext cx="12192000" cy="645000"/>
            </a:xfrm>
            <a:prstGeom prst="rect">
              <a:avLst/>
            </a:prstGeom>
            <a:solidFill>
              <a:srgbClr val="9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1"/>
            <p:cNvSpPr txBox="1"/>
            <p:nvPr/>
          </p:nvSpPr>
          <p:spPr>
            <a:xfrm>
              <a:off x="620925" y="8236"/>
              <a:ext cx="105681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Rockwell"/>
                <a:buNone/>
              </a:pPr>
              <a:r>
                <a:rPr lang="en-US" sz="40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Is it Possible to Examine Intensity Chaos?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sp>
        <p:nvSpPr>
          <p:cNvPr id="201" name="Google Shape;201;p21"/>
          <p:cNvSpPr txBox="1"/>
          <p:nvPr/>
        </p:nvSpPr>
        <p:spPr>
          <a:xfrm>
            <a:off x="838200" y="1531375"/>
            <a:ext cx="105753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This is a challenging question, given that real observations from hurricane simulations contains only few main pieces of information such as: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175" y="2836075"/>
            <a:ext cx="6693601" cy="292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1003325" y="3007075"/>
            <a:ext cx="3581100" cy="29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Google Sans"/>
              <a:buAutoNum type="arabicPeriod"/>
            </a:pPr>
            <a:r>
              <a:rPr lang="en-US" sz="2400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Surface wind speed</a:t>
            </a:r>
            <a:endParaRPr sz="24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Google Sans"/>
              <a:buAutoNum type="arabicPeriod"/>
            </a:pPr>
            <a:r>
              <a:rPr lang="en-US" sz="2400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Central pressure</a:t>
            </a:r>
            <a:endParaRPr sz="24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Google Sans"/>
              <a:buAutoNum type="arabicPeriod"/>
            </a:pPr>
            <a:r>
              <a:rPr lang="en-US" sz="2400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Eye temperature</a:t>
            </a:r>
            <a:endParaRPr sz="24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Google Sans"/>
              <a:buAutoNum type="arabicPeriod"/>
            </a:pPr>
            <a:r>
              <a:rPr lang="en-US" sz="2400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Vertical air speed</a:t>
            </a:r>
            <a:endParaRPr sz="2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      (~1 million data points)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1" type="body"/>
          </p:nvPr>
        </p:nvSpPr>
        <p:spPr>
          <a:xfrm>
            <a:off x="1382425" y="4707250"/>
            <a:ext cx="39639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Find patterns in data </a:t>
            </a:r>
            <a:endParaRPr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1382425" y="1571687"/>
            <a:ext cx="35523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How badly does the system predict? </a:t>
            </a:r>
            <a:endParaRPr i="0" sz="2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311275" y="5834400"/>
            <a:ext cx="30738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Is it all random?</a:t>
            </a:r>
            <a:endParaRPr i="0" sz="2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5495825" y="1876175"/>
            <a:ext cx="704700" cy="23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495825" y="3356575"/>
            <a:ext cx="704700" cy="23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495825" y="4836975"/>
            <a:ext cx="704700" cy="23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1382425" y="3063075"/>
            <a:ext cx="35523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How many dimensions?</a:t>
            </a:r>
            <a:endParaRPr i="0" sz="2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2240650" y="2673625"/>
            <a:ext cx="704700" cy="231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2240650" y="4198867"/>
            <a:ext cx="704700" cy="231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7385075" y="1734350"/>
            <a:ext cx="34245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Lyapunov Exponent</a:t>
            </a:r>
            <a:endParaRPr i="0" sz="2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8003225" y="3095475"/>
            <a:ext cx="21882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Embedding Dimension</a:t>
            </a:r>
            <a:endParaRPr i="0" sz="2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7480625" y="4558500"/>
            <a:ext cx="32334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Average Mutual Information</a:t>
            </a:r>
            <a:endParaRPr i="0" sz="2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221" name="Google Shape;221;p22"/>
          <p:cNvGrpSpPr/>
          <p:nvPr/>
        </p:nvGrpSpPr>
        <p:grpSpPr>
          <a:xfrm>
            <a:off x="-4900" y="5"/>
            <a:ext cx="12192000" cy="1168903"/>
            <a:chOff x="0" y="18"/>
            <a:chExt cx="12192000" cy="655913"/>
          </a:xfrm>
        </p:grpSpPr>
        <p:sp>
          <p:nvSpPr>
            <p:cNvPr id="222" name="Google Shape;222;p22"/>
            <p:cNvSpPr/>
            <p:nvPr/>
          </p:nvSpPr>
          <p:spPr>
            <a:xfrm>
              <a:off x="0" y="18"/>
              <a:ext cx="12192000" cy="645000"/>
            </a:xfrm>
            <a:prstGeom prst="rect">
              <a:avLst/>
            </a:prstGeom>
            <a:solidFill>
              <a:srgbClr val="9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620933" y="8231"/>
              <a:ext cx="6649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Rockwell"/>
                <a:buNone/>
              </a:pPr>
              <a:r>
                <a:rPr lang="en-US" sz="40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How to Check for Chaos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1887200" cy="614763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817000" y="6300025"/>
            <a:ext cx="10728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10601625" y="571250"/>
            <a:ext cx="1290300" cy="97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4">
            <a:alphaModFix/>
          </a:blip>
          <a:srcRect b="38046" l="0" r="0" t="41299"/>
          <a:stretch/>
        </p:blipFill>
        <p:spPr>
          <a:xfrm>
            <a:off x="7322475" y="571250"/>
            <a:ext cx="4569450" cy="16819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4"/>
          <p:cNvPicPr preferRelativeResize="0"/>
          <p:nvPr/>
        </p:nvPicPr>
        <p:blipFill rotWithShape="1">
          <a:blip r:embed="rId3">
            <a:alphaModFix/>
          </a:blip>
          <a:srcRect b="5033" l="0" r="15024" t="4763"/>
          <a:stretch/>
        </p:blipFill>
        <p:spPr>
          <a:xfrm>
            <a:off x="1045375" y="339250"/>
            <a:ext cx="10101250" cy="57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/>
          <p:cNvPicPr preferRelativeResize="0"/>
          <p:nvPr/>
        </p:nvPicPr>
        <p:blipFill rotWithShape="1">
          <a:blip r:embed="rId3">
            <a:alphaModFix/>
          </a:blip>
          <a:srcRect b="95130" l="31369" r="24721" t="0"/>
          <a:stretch/>
        </p:blipFill>
        <p:spPr>
          <a:xfrm>
            <a:off x="3395650" y="43497"/>
            <a:ext cx="5219623" cy="3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42892" r="38812" t="95130"/>
          <a:stretch/>
        </p:blipFill>
        <p:spPr>
          <a:xfrm>
            <a:off x="5008587" y="6222375"/>
            <a:ext cx="2174824" cy="3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4"/>
          <p:cNvPicPr preferRelativeResize="0"/>
          <p:nvPr/>
        </p:nvPicPr>
        <p:blipFill rotWithShape="1">
          <a:blip r:embed="rId4">
            <a:alphaModFix/>
          </a:blip>
          <a:srcRect b="0" l="0" r="4771" t="0"/>
          <a:stretch/>
        </p:blipFill>
        <p:spPr>
          <a:xfrm>
            <a:off x="6872972" y="558250"/>
            <a:ext cx="4201150" cy="19769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2" name="Google Shape;242;p24"/>
          <p:cNvSpPr/>
          <p:nvPr/>
        </p:nvSpPr>
        <p:spPr>
          <a:xfrm>
            <a:off x="8363175" y="857250"/>
            <a:ext cx="139500" cy="1197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10878000" y="857250"/>
            <a:ext cx="139500" cy="1197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10382475" y="1072325"/>
            <a:ext cx="139500" cy="119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5"/>
          <p:cNvPicPr preferRelativeResize="0"/>
          <p:nvPr/>
        </p:nvPicPr>
        <p:blipFill rotWithShape="1">
          <a:blip r:embed="rId3">
            <a:alphaModFix/>
          </a:blip>
          <a:srcRect b="4655" l="0" r="0" t="5312"/>
          <a:stretch/>
        </p:blipFill>
        <p:spPr>
          <a:xfrm>
            <a:off x="122500" y="527775"/>
            <a:ext cx="11782499" cy="562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5"/>
          <p:cNvPicPr preferRelativeResize="0"/>
          <p:nvPr/>
        </p:nvPicPr>
        <p:blipFill rotWithShape="1">
          <a:blip r:embed="rId3">
            <a:alphaModFix/>
          </a:blip>
          <a:srcRect b="93879" l="34353" r="26821" t="0"/>
          <a:stretch/>
        </p:blipFill>
        <p:spPr>
          <a:xfrm>
            <a:off x="2938775" y="145322"/>
            <a:ext cx="4574574" cy="38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/>
          <p:cNvPicPr preferRelativeResize="0"/>
          <p:nvPr/>
        </p:nvPicPr>
        <p:blipFill rotWithShape="1">
          <a:blip r:embed="rId3">
            <a:alphaModFix/>
          </a:blip>
          <a:srcRect b="0" l="44257" r="40114" t="95122"/>
          <a:stretch/>
        </p:blipFill>
        <p:spPr>
          <a:xfrm>
            <a:off x="4305375" y="6109850"/>
            <a:ext cx="1841373" cy="30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50271"/>
          <a:stretch/>
        </p:blipFill>
        <p:spPr>
          <a:xfrm>
            <a:off x="6328950" y="1491479"/>
            <a:ext cx="5272125" cy="48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/>
          <p:cNvPicPr preferRelativeResize="0"/>
          <p:nvPr/>
        </p:nvPicPr>
        <p:blipFill rotWithShape="1">
          <a:blip r:embed="rId3">
            <a:alphaModFix/>
          </a:blip>
          <a:srcRect b="49729" l="0" r="0" t="0"/>
          <a:stretch/>
        </p:blipFill>
        <p:spPr>
          <a:xfrm>
            <a:off x="643450" y="1465191"/>
            <a:ext cx="5272125" cy="485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/>
          <p:nvPr/>
        </p:nvSpPr>
        <p:spPr>
          <a:xfrm>
            <a:off x="872875" y="3268066"/>
            <a:ext cx="5042700" cy="768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6558375" y="5689716"/>
            <a:ext cx="5042700" cy="768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758163" y="5689716"/>
            <a:ext cx="5042700" cy="768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6558375" y="3268066"/>
            <a:ext cx="5042700" cy="768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26"/>
          <p:cNvPicPr preferRelativeResize="0"/>
          <p:nvPr/>
        </p:nvPicPr>
        <p:blipFill rotWithShape="1">
          <a:blip r:embed="rId4">
            <a:alphaModFix/>
          </a:blip>
          <a:srcRect b="10842" l="0" r="0" t="0"/>
          <a:stretch/>
        </p:blipFill>
        <p:spPr>
          <a:xfrm>
            <a:off x="5011427" y="72498"/>
            <a:ext cx="2227349" cy="131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>
            <p:ph idx="1" type="body"/>
          </p:nvPr>
        </p:nvSpPr>
        <p:spPr>
          <a:xfrm>
            <a:off x="543750" y="1801125"/>
            <a:ext cx="11029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6"/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Again, w</a:t>
            </a: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e did not PROVE chaos exists, but the results from this </a:t>
            </a: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research</a:t>
            </a: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 support confidence of its </a:t>
            </a: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presence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71" name="Google Shape;27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58" y="2750524"/>
            <a:ext cx="6501300" cy="35349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27"/>
          <p:cNvGrpSpPr/>
          <p:nvPr/>
        </p:nvGrpSpPr>
        <p:grpSpPr>
          <a:xfrm>
            <a:off x="-4900" y="5"/>
            <a:ext cx="12192000" cy="1168903"/>
            <a:chOff x="0" y="18"/>
            <a:chExt cx="12192000" cy="655913"/>
          </a:xfrm>
        </p:grpSpPr>
        <p:sp>
          <p:nvSpPr>
            <p:cNvPr id="273" name="Google Shape;273;p27"/>
            <p:cNvSpPr/>
            <p:nvPr/>
          </p:nvSpPr>
          <p:spPr>
            <a:xfrm>
              <a:off x="0" y="18"/>
              <a:ext cx="12192000" cy="645000"/>
            </a:xfrm>
            <a:prstGeom prst="rect">
              <a:avLst/>
            </a:prstGeom>
            <a:solidFill>
              <a:srgbClr val="9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27"/>
            <p:cNvSpPr txBox="1"/>
            <p:nvPr/>
          </p:nvSpPr>
          <p:spPr>
            <a:xfrm>
              <a:off x="620933" y="8231"/>
              <a:ext cx="6649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Rockwell"/>
                <a:buNone/>
              </a:pPr>
              <a:r>
                <a:rPr lang="en-US" sz="40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Implication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sp>
        <p:nvSpPr>
          <p:cNvPr id="275" name="Google Shape;275;p27"/>
          <p:cNvSpPr txBox="1"/>
          <p:nvPr/>
        </p:nvSpPr>
        <p:spPr>
          <a:xfrm>
            <a:off x="7411850" y="3082550"/>
            <a:ext cx="4117800" cy="1841700"/>
          </a:xfrm>
          <a:prstGeom prst="rect">
            <a:avLst/>
          </a:prstGeom>
          <a:noFill/>
          <a:ln cap="flat" cmpd="sng" w="38100">
            <a:solidFill>
              <a:srgbClr val="9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Hurricane intensity forecasts likely have a maximum prediction horizon.</a:t>
            </a:r>
            <a:endParaRPr sz="2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 txBox="1"/>
          <p:nvPr>
            <p:ph type="title"/>
          </p:nvPr>
        </p:nvSpPr>
        <p:spPr>
          <a:xfrm>
            <a:off x="1300442" y="2509417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Thank you :</a:t>
            </a:r>
            <a:r>
              <a:rPr lang="en-US"/>
              <a:t>O)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